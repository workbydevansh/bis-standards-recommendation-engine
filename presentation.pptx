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b460946bc482d" /><Relationship Type="http://schemas.openxmlformats.org/officeDocument/2006/relationships/extended-properties" Target="/docProps/app.xml" Id="Rb7b5cabe126d4bfe" /><Relationship Type="http://schemas.openxmlformats.org/officeDocument/2006/relationships/officeDocument" Target="/ppt/presentation.xml" Id="Rc62436f835a9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320a8153e54583"/>
  </p:sldMasterIdLst>
  <p:notesMasterIdLst>
    <p:notesMasterId xmlns:r="http://schemas.openxmlformats.org/officeDocument/2006/relationships" r:id="R53f53612dad146af"/>
  </p:notesMasterIdLst>
  <p:sldIdLst>
    <p:sldId xmlns:r="http://schemas.openxmlformats.org/officeDocument/2006/relationships" id="256" r:id="Ra9e92df89a5f46c3"/>
    <p:sldId xmlns:r="http://schemas.openxmlformats.org/officeDocument/2006/relationships" id="257" r:id="Rc8b5eeb1502e4f33"/>
    <p:sldId xmlns:r="http://schemas.openxmlformats.org/officeDocument/2006/relationships" id="258" r:id="Rf1c031dde3e64314"/>
    <p:sldId xmlns:r="http://schemas.openxmlformats.org/officeDocument/2006/relationships" id="259" r:id="R89268e210b034c56"/>
    <p:sldId xmlns:r="http://schemas.openxmlformats.org/officeDocument/2006/relationships" id="260" r:id="R121019a29cd14e50"/>
    <p:sldId xmlns:r="http://schemas.openxmlformats.org/officeDocument/2006/relationships" id="261" r:id="R96fbc35b20224ed1"/>
    <p:sldId xmlns:r="http://schemas.openxmlformats.org/officeDocument/2006/relationships" id="262" r:id="Ra796c74c1e484a56"/>
    <p:sldId xmlns:r="http://schemas.openxmlformats.org/officeDocument/2006/relationships" id="263" r:id="Re095d16fd878429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20a8153e54583" /><Relationship Type="http://schemas.openxmlformats.org/officeDocument/2006/relationships/theme" Target="/ppt/theme/theme1.xml" Id="R791fc1124e504ac9" /><Relationship Type="http://schemas.openxmlformats.org/officeDocument/2006/relationships/notesMaster" Target="/ppt/notesMasters/notesMaster1.xml" Id="R53f53612dad146af" /><Relationship Type="http://schemas.openxmlformats.org/officeDocument/2006/relationships/presProps" Target="/ppt/presProps.xml" Id="R854a703df1614bf9" /><Relationship Type="http://schemas.openxmlformats.org/officeDocument/2006/relationships/viewProps" Target="/ppt/viewProps.xml" Id="R972157b4c2614de6" /><Relationship Type="http://schemas.openxmlformats.org/officeDocument/2006/relationships/tableStyles" Target="/ppt/tableStyles.xml" Id="R98464034f4054a10" /><Relationship Type="http://schemas.openxmlformats.org/officeDocument/2006/relationships/slide" Target="/ppt/slides/slide1.xml" Id="Ra9e92df89a5f46c3" /><Relationship Type="http://schemas.openxmlformats.org/officeDocument/2006/relationships/slide" Target="/ppt/slides/slide2.xml" Id="Rc8b5eeb1502e4f33" /><Relationship Type="http://schemas.openxmlformats.org/officeDocument/2006/relationships/slide" Target="/ppt/slides/slide3.xml" Id="Rf1c031dde3e64314" /><Relationship Type="http://schemas.openxmlformats.org/officeDocument/2006/relationships/slide" Target="/ppt/slides/slide4.xml" Id="R89268e210b034c56" /><Relationship Type="http://schemas.openxmlformats.org/officeDocument/2006/relationships/slide" Target="/ppt/slides/slide5.xml" Id="R121019a29cd14e50" /><Relationship Type="http://schemas.openxmlformats.org/officeDocument/2006/relationships/slide" Target="/ppt/slides/slide6.xml" Id="R96fbc35b20224ed1" /><Relationship Type="http://schemas.openxmlformats.org/officeDocument/2006/relationships/slide" Target="/ppt/slides/slide7.xml" Id="Ra796c74c1e484a56" /><Relationship Type="http://schemas.openxmlformats.org/officeDocument/2006/relationships/slide" Target="/ppt/slides/slide8.xml" Id="Re095d16fd878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a3e712ff95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f7aa58ad3d4d96" /><Relationship Type="http://schemas.openxmlformats.org/officeDocument/2006/relationships/notesMaster" Target="/ppt/notesMasters/notesMaster1.xml" Id="R54253edaefbb49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d5e6ab9cd04851" /><Relationship Type="http://schemas.openxmlformats.org/officeDocument/2006/relationships/notesMaster" Target="/ppt/notesMasters/notesMaster1.xml" Id="R606669ed5eda4f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a808224f514796" /><Relationship Type="http://schemas.openxmlformats.org/officeDocument/2006/relationships/notesMaster" Target="/ppt/notesMasters/notesMaster1.xml" Id="Rc3df501e0ed54b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883dd4f4b44b6" /><Relationship Type="http://schemas.openxmlformats.org/officeDocument/2006/relationships/notesMaster" Target="/ppt/notesMasters/notesMaster1.xml" Id="Rd0a3669e0acd4f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881f1abadc4fa3" /><Relationship Type="http://schemas.openxmlformats.org/officeDocument/2006/relationships/notesMaster" Target="/ppt/notesMasters/notesMaster1.xml" Id="Re1c80c34cee746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eb7163e54245cc" /><Relationship Type="http://schemas.openxmlformats.org/officeDocument/2006/relationships/notesMaster" Target="/ppt/notesMasters/notesMaster1.xml" Id="R0084de79492445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546c8466024d97" /><Relationship Type="http://schemas.openxmlformats.org/officeDocument/2006/relationships/notesMaster" Target="/ppt/notesMasters/notesMaster1.xml" Id="R9036280d370045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2fe567e11c4b1d" /><Relationship Type="http://schemas.openxmlformats.org/officeDocument/2006/relationships/notesMaster" Target="/ppt/notesMasters/notesMaster1.xml" Id="R38bbac7a86f44e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2f9f0014d490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1a860a4434467a" /><Relationship Type="http://schemas.openxmlformats.org/officeDocument/2006/relationships/slideLayout" Target="/ppt/slideLayouts/slideLayout2.xml" Id="R5f082305af4b40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82305af4b40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c8b5806434e27" /><Relationship Type="http://schemas.openxmlformats.org/officeDocument/2006/relationships/notesSlide" Target="/ppt/notesSlides/notesSlide1.xml" Id="R4ce20bd33dc1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1e94bc5b745dc" /><Relationship Type="http://schemas.openxmlformats.org/officeDocument/2006/relationships/notesSlide" Target="/ppt/notesSlides/notesSlide2.xml" Id="R83f087e4b5744c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37ce492aa4b0f" /><Relationship Type="http://schemas.openxmlformats.org/officeDocument/2006/relationships/notesSlide" Target="/ppt/notesSlides/notesSlide3.xml" Id="R66171e82534b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26234825bb4f46" /><Relationship Type="http://schemas.openxmlformats.org/officeDocument/2006/relationships/notesSlide" Target="/ppt/notesSlides/notesSlide4.xml" Id="R91e55b59b3a34d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7f9019c2bb4789" /><Relationship Type="http://schemas.openxmlformats.org/officeDocument/2006/relationships/image" Target="/ppt/media/image.png" Id="R95195d40854c493c" /><Relationship Type="http://schemas.openxmlformats.org/officeDocument/2006/relationships/notesSlide" Target="/ppt/notesSlides/notesSlide5.xml" Id="R498422ea87cf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ebc46915604b5d" /><Relationship Type="http://schemas.openxmlformats.org/officeDocument/2006/relationships/notesSlide" Target="/ppt/notesSlides/notesSlide6.xml" Id="R3c7d3a44e36e43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e25c5a74034ce0" /><Relationship Type="http://schemas.openxmlformats.org/officeDocument/2006/relationships/notesSlide" Target="/ppt/notesSlides/notesSlide7.xml" Id="R2d9e679deeca48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fea26377849f9" /><Relationship Type="http://schemas.openxmlformats.org/officeDocument/2006/relationships/notesSlide" Target="/ppt/notesSlides/notesSlide8.xml" Id="R068376938c2e4e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9E3104E-B958-45C6-9B16-A570C1A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1AFA7-BD84-44B5-AFF8-A804458B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5772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PROBLEM STATEMENT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DF4885-992C-41F6-9D7F-677B0B1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5772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Right BIS standard, faster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3308900-5136-49DF-97EF-96E0CFF2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600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5A6D"/>
                </a:solidFill>
              </a:defRPr>
            </a:pPr>
            <a:r>
              <a:rPr sz="1875" b="0">
                <a:solidFill>
                  <a:srgbClr val="4B5A6D"/>
                </a:solidFill>
              </a:rPr>
              <a:t>Reliable product-to-standard mapping for MSE workflows.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F44C76B-FA64-44AE-80AF-F61470C3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AE8F3-DAA4-48FA-A8B0-DF2BDADD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47700"/>
            <a:ext cx="7200900" cy="1939290"/>
          </a:xfrm>
          <a:prstGeom xmlns:a="http://schemas.openxmlformats.org/drawingml/2006/main" prst="roundRect">
            <a:avLst>
              <a:gd name="adj" fmla="val 392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1E1E5-0E71-4DB4-8EC8-E5A89127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876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Submission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1C51-B119-473C-B12A-05B4D9F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200150"/>
            <a:ext cx="666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ByteMe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F26D0-2039-4D16-BBD9-F49D9A38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7335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Devansh Verma, Team Leader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1BB07-898B-4D16-9578-1122F8F8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764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Jahnavi Srivastava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F0AEE-7CE0-486A-80B6-0886EB51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AD1DF-E062-4680-8083-FFC6482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Manual discovery is slow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74CBC-8E65-4BD4-AEFC-DBB72214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849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Teams must search dense SP 21 summaries before they know which standard applies.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64575-85A8-4769-B8B1-DDED3AF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50B61-B733-46FC-B076-2D02D53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Part numbers matter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61F2E-3FDE-4B8C-9B8B-7888569E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849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Similar products can map to different IS parts, revisions, and years.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53D60-2539-4EB3-A961-4EABF313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D4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17BCB-6E51-4188-A38F-8DA14F2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Wrong standards are costly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24FB1-EC3E-4AF2-9928-43C474EB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849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Incorrect or hallucinated codes can derail testing, certification, and documentation.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0F4B9-1FF0-4F03-AE0D-FB13A982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06090"/>
            <a:ext cx="7200900" cy="6107430"/>
          </a:xfrm>
          <a:prstGeom xmlns:a="http://schemas.openxmlformats.org/drawingml/2006/main" prst="roundRect">
            <a:avLst>
              <a:gd name="adj" fmla="val 1248"/>
            </a:avLst>
          </a:prstGeom>
          <a:solidFill xmlns:a="http://schemas.openxmlformats.org/drawingml/2006/main">
            <a:srgbClr val="EAF6F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C50DE-8A20-467B-9B3E-E3EA70A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333750"/>
            <a:ext cx="655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Target 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55FAB-7621-45C4-9CAB-24AB4B9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71900"/>
            <a:ext cx="655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Product description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254E1-21C5-4F09-8F6A-1556670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672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0">
            <a:solidFill>
              <a:srgbClr val="E8A3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CB25A-145E-4C72-8B71-F1E22A3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95800"/>
            <a:ext cx="655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4F4A"/>
                </a:solidFill>
              </a:defRPr>
            </a:pPr>
            <a:r>
              <a:rPr sz="2100" b="1">
                <a:solidFill>
                  <a:srgbClr val="0B4F4A"/>
                </a:solidFill>
              </a:rPr>
              <a:t>Top 3-5 BIS standards with traceable rationale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5C02CA-4AE7-423E-AF9B-2148AB0A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C4828-CA14-4BEC-885E-3A47B165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F4B0C-CFD6-4620-9BE1-DCC8F8E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8368937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AD52207-BA1D-407D-9F7C-1F0FE145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84BE0-1C2F-49EA-8B7D-C4FD337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129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SOLUTION OVERVIEW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95B6C8-0173-487F-96A6-FB05CF0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1296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 deterministic RAG-style engine for BIS standard discovery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A514D18-8D9B-48B7-B80E-CEE4A42B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963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5A6D"/>
                </a:solidFill>
              </a:defRPr>
            </a:pPr>
            <a:r>
              <a:rPr sz="1875" b="0">
                <a:solidFill>
                  <a:srgbClr val="4B5A6D"/>
                </a:solidFill>
              </a:rPr>
              <a:t>The scoring path is retrieval-first: every returned standard comes from the official parsed SP 21 dataset.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0C8C01A-97F3-4C55-A28E-D07EF7D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7E1EE-4240-4B72-BB92-7C859FF3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7580"/>
            <a:ext cx="3986213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11185-8151-497C-8FDE-24DC8354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AE8D9-77F4-4E5D-AD02-47CD3F0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344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Parse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13373-7DB6-480D-BD81-B075074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Extract standard IDs, titles, scopes, summaries, and source pages from dataset.pdf.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6639B-8801-4F23-9BD4-8DF8618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3" y="3497580"/>
            <a:ext cx="3986213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661D5-2A63-408F-9E5D-9A9E45F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338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63A8"/>
                </a:solidFill>
              </a:defRPr>
            </a:pPr>
            <a:r>
              <a:rPr sz="2700" b="1">
                <a:solidFill>
                  <a:srgbClr val="2563A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85CD-7290-4E24-9EBC-9DA0B6F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67200"/>
            <a:ext cx="344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C6C50-0277-4ED6-B67A-9B4BF8DC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434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Create a compact JSON index of 574 official standards for offline search.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7B4B8-FB49-48C4-AFCC-B6C6956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497580"/>
            <a:ext cx="3986213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3D641-CEC3-4AB8-9CB4-8B2B7FF6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A317"/>
                </a:solidFill>
              </a:defRPr>
            </a:pPr>
            <a:r>
              <a:rPr sz="2700" b="1">
                <a:solidFill>
                  <a:srgbClr val="E8A317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D70B4-AA7C-47B0-A0B8-8EDFE14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67200"/>
            <a:ext cx="344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Retrieve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F04AA-7864-46B4-B0A6-586D8BD0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Combine BM25 lexical scoring with field-aware boosts and deterministic reranking.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50E29-8EDE-41B6-8167-26E7FC30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3497580"/>
            <a:ext cx="3986213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8E64DD-53F8-4FE6-82AF-3FE2F7E8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7338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95D47"/>
                </a:solidFill>
              </a:defRPr>
            </a:pPr>
            <a:r>
              <a:rPr sz="2700" b="1">
                <a:solidFill>
                  <a:srgbClr val="D95D47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EE27F-CEBE-4326-81FD-DE34CE86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267200"/>
            <a:ext cx="344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A742E-7A70-4F2C-8948-80FDE184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74345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Write the judge-required JSON: id, retrieved_standards, latency_seconds.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EF1A1-C4B9-4BD8-A7C8-805C32FE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59930"/>
            <a:ext cx="16573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D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780F8-915F-4749-9743-16624531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580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4F4A"/>
                </a:solidFill>
              </a:defRPr>
            </a:pPr>
            <a:r>
              <a:rPr sz="1950" b="1">
                <a:solidFill>
                  <a:srgbClr val="0B4F4A"/>
                </a:solidFill>
              </a:rPr>
              <a:t>Why this is submission-safe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AA37D-39DE-4FAF-B4A6-6D0D28E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277100"/>
            <a:ext cx="1291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No external APIs, no hidden keys, no generated standard IDs, and no dependency on the UI for automated scoring.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73B866-21F8-4454-B9E7-06C4AB87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666B5-7D6A-4561-8B03-6E002826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65BEF-B3EB-45F7-9436-B016B267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3625677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858BE46-7675-4AC9-8F77-00CE355A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4780E-2022-4E8D-AB01-4636D3D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198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SYSTEM 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62392B-1718-4B43-B711-6B3E7889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1982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One offline pipeline powers the CLI and the demo UI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CF86CE2-FB73-4F19-82D1-B4559B5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FDAD6-8A1B-45AD-9BD8-89CF720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DE21D-A130-43D4-AA33-82588A9C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dataset.pdf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08BA-2532-4E2D-A0A1-7F4AD7C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BIS SP 21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6EB15-A056-4F90-B7B3-D69A8B69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766E"/>
                </a:solidFill>
              </a:defRPr>
            </a:pPr>
            <a:r>
              <a:rPr sz="2550" b="0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191C7-95ED-4F4D-9B15-4D34AEA3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514" y="2171700"/>
            <a:ext cx="2457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B9722-ADFD-458E-9137-C993A27A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2114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build_index.py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6C27B-82F5-47FB-BE71-3E91D2A1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PDF parser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B5651-90DB-4C8B-985E-176E790F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766E"/>
                </a:solidFill>
              </a:defRPr>
            </a:pPr>
            <a:r>
              <a:rPr sz="2550" b="0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49E3C-B83D-445A-B7C1-CDCAD5C6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077" y="2171700"/>
            <a:ext cx="2590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6DF2F-777E-45A6-AA7C-8D9E6E9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4315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standards.json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25532-AE0E-454A-9337-C7D48A4F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574 indexed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56EAF-D3A4-489C-A964-B048357D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3365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766E"/>
                </a:solidFill>
              </a:defRPr>
            </a:pPr>
            <a:r>
              <a:rPr sz="2550" b="0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5DDC3-C26E-4F66-AD92-C27258E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991" y="217170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465E8-B1D5-4D68-B109-77288AAB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retriever.py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CE77A-5562-43EA-A86B-44C867DD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Hybrid scorer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A887B-2E30-42E0-B69C-9FE9AEA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533650"/>
            <a:ext cx="266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F766E"/>
                </a:solidFill>
              </a:defRPr>
            </a:pPr>
            <a:r>
              <a:rPr sz="2550" b="0">
                <a:solidFill>
                  <a:srgbClr val="0F766E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5F39C-0A20-4791-B611-665BE368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254" y="2171700"/>
            <a:ext cx="2343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15BD0-040E-4AFB-B941-9E8891B7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3431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inference.py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EBB8E-B6D2-4A82-972B-9306FA59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6670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Judge entrypoint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DE3CD1-4099-4C41-B768-5F3523F3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8540"/>
            <a:ext cx="16573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8FB1F-1C4D-4DE4-A77B-E59E8EA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1600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Required judge 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DC3B01-3680-4402-BC6B-A6A08B87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600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python inference.py --input hidden_private_dataset.json --output team_results.json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35B96-B49A-46AF-95C0-455CE1F2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1590"/>
            <a:ext cx="5397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B1BFD1-8ABC-407F-BE12-E184361B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4933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Offline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00C85-7BC0-4372-8586-85E3E1A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43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Runs locally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5438B-B70D-4536-8670-F3DC4EC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86500"/>
            <a:ext cx="493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Standard hardware; no cloud model required.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D6074-93E4-44F2-8A95-C567E0F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101590"/>
            <a:ext cx="5397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16968-5530-43E8-AD65-3B23F458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95900"/>
            <a:ext cx="4933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A8"/>
                </a:solidFill>
              </a:defRPr>
            </a:pPr>
            <a:r>
              <a:rPr sz="3600" b="1">
                <a:solidFill>
                  <a:srgbClr val="2563A8"/>
                </a:solidFill>
              </a:rPr>
              <a:t>Fast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C35B55-35CC-4F0A-A9A5-9E0EFB9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43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Under target latency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4D7BBC-E83B-45F4-B843-359F807F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86500"/>
            <a:ext cx="493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Public average below 0.1 seconds/query.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0408AA-084A-4DA9-8018-C872888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3250" y="5101590"/>
            <a:ext cx="53975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9F87C5-618E-4294-8952-97F095D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295900"/>
            <a:ext cx="4933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5D47"/>
                </a:solidFill>
              </a:defRPr>
            </a:pPr>
            <a:r>
              <a:rPr sz="3600" b="1">
                <a:solidFill>
                  <a:srgbClr val="D95D47"/>
                </a:solidFill>
              </a:rPr>
              <a:t>Traceable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DBB94A-0852-4801-ADBC-8D1626D6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943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Source-grounded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DB4AED-B0A8-4653-AA46-F0B9219D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286500"/>
            <a:ext cx="493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Recommendations link back to SP 21 records.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DD3CA4-B47C-479A-B375-EEF8A9A0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4B81B4-D4DF-4A10-BB45-5D31913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C9D949-5C00-47E9-9C51-2200CF35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9652757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6F8A40-BC58-4C2C-BF21-19971BA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D503A-82D6-4BD1-AF06-08B03DF0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72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CHUNKING &amp; RETRIEVAL STRATEGY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D41F3-D01E-4BF6-B783-60FAA5EF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07251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Standards are treated as first-class records, not arbitrary page chunks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89119B6-8F5D-4A94-8890-B83E2EB7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35699-A425-45D8-984F-7A8E1A1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7980"/>
            <a:ext cx="8124825" cy="1327785"/>
          </a:xfrm>
          <a:prstGeom xmlns:a="http://schemas.openxmlformats.org/drawingml/2006/main" prst="roundRect">
            <a:avLst>
              <a:gd name="adj" fmla="val 57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8275D-54B2-4878-B556-D033505F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4F6F8-934A-4F4B-888C-3443E589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7296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Record-level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1E57E-89E9-4CDE-A7FA-F10212BD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7296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Each chunk contains one canonical IS code, title, scope, summary, and page references.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DB3E6-F497-4983-8558-7A992A56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7980"/>
            <a:ext cx="8124825" cy="1327785"/>
          </a:xfrm>
          <a:prstGeom xmlns:a="http://schemas.openxmlformats.org/drawingml/2006/main" prst="roundRect">
            <a:avLst>
              <a:gd name="adj" fmla="val 57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2D6B2-4733-4E13-9973-6BAA8504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C31EF-E223-49C3-A799-5EC99157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24200"/>
            <a:ext cx="7296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BM25 lexical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20276-8852-42B3-80F1-8750C37A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8615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Exact product names, material families, grades, and part numbers remain high-signal.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87D33-B307-432C-A693-D05EBC5E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4365"/>
            <a:ext cx="8124825" cy="1327785"/>
          </a:xfrm>
          <a:prstGeom xmlns:a="http://schemas.openxmlformats.org/drawingml/2006/main" prst="roundRect">
            <a:avLst>
              <a:gd name="adj" fmla="val 57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6435B-D0C5-49C3-897F-23EC1547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C1B7E-BBFF-423A-BB9F-4DEF92C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7296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Field-aware boosts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91454-5210-4A08-B050-9F6C46D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7296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Titles, standard IDs, product phrases, grade numbers, and cement types get targeted weighting.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578D2-11A4-4ABD-AA4F-8C1ABFB8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44365"/>
            <a:ext cx="8124825" cy="1327785"/>
          </a:xfrm>
          <a:prstGeom xmlns:a="http://schemas.openxmlformats.org/drawingml/2006/main" prst="roundRect">
            <a:avLst>
              <a:gd name="adj" fmla="val 573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BD5B7-3AE4-42DE-A375-BAFEB8A4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D4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D7B29-67C0-497B-9203-2B4EA8C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67250"/>
            <a:ext cx="7296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Hallucination guardrail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46407-A73E-4EF6-8D9A-C808C036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48250"/>
            <a:ext cx="7296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The output list is selected only from parsed SP 21 IDs; new IS codes cannot be invented.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DF6A2-7959-4AD0-9D2C-A7146CC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16573500" cy="105156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AF6F4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F2288-3617-4CF9-B4A1-CA6F0F61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43650"/>
            <a:ext cx="1790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4F4A"/>
                </a:solidFill>
              </a:defRPr>
            </a:pPr>
            <a:r>
              <a:rPr sz="1950" b="1">
                <a:solidFill>
                  <a:srgbClr val="0B4F4A"/>
                </a:solidFill>
              </a:rPr>
              <a:t>Retrieval formula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44986-D84C-4CDA-B327-6A1D5A26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496050"/>
            <a:ext cx="14020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BM25 score + title coverage + exact ID/number match + product phrase boosts + grade/part reranking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681727-CF4D-423F-8993-2EA4FD7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A38DA-3043-4A58-9A43-00676D3E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E8C51-6E8B-4B25-BE75-30F5186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6123968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F11D3C5-635D-44CC-ACC6-931F5BAC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9323-C644-43FB-9BBA-E518573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581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DEMO HIGHLIGHTS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09197C-197E-4CB0-89FD-5F4F887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49911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React demo UI for BIS recommendations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F0026B-C596-442C-B3E2-1E303F3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5A6D"/>
                </a:solidFill>
              </a:defRPr>
            </a:pPr>
            <a:r>
              <a:rPr sz="1875" b="0">
                <a:solidFill>
                  <a:srgbClr val="4B5A6D"/>
                </a:solidFill>
              </a:rPr>
              <a:t>A polished recommender experience sits on top of the same judge-safe API.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F446EA8-7879-4BA1-B57A-1398F71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5DF06-6998-4DFD-BC3B-2F2D0941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47700"/>
            <a:ext cx="10363200" cy="8465820"/>
          </a:xfrm>
          <a:prstGeom xmlns:a="http://schemas.openxmlformats.org/drawingml/2006/main" prst="roundRect">
            <a:avLst>
              <a:gd name="adj" fmla="val 90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7" name="ui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5d40854c493c"/>
          <a:stretch xmlns:a="http://schemas.openxmlformats.org/drawingml/2006/main"/>
        </p:blipFill>
        <p:spPr>
          <a:xfrm xmlns:a="http://schemas.openxmlformats.org/drawingml/2006/main">
            <a:off x="7219950" y="1388110"/>
            <a:ext cx="10058400" cy="6985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27498-8ADA-49CD-8298-6C9C868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FDF2D-DC2D-4562-ADB3-214963F2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Search by product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4051F-36A1-42CF-94CB-C0E3A0B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Queries can be natural descriptions, not exact BIS titles.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ACF1C-723B-4B3B-9192-28F883EE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8D37B-6ACD-4D2C-AFCF-2F0FB911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Inspect ranked standards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D8DE6-6A8C-4DEE-895B-7DDD7E26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5524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Each result shows IS code, title, score, rationale, and source 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0CB16-3558-4EAD-AF88-3994C4CC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215F5-5D27-46ED-AD6D-21755594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7695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Copy IDs for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F29D1-C03A-481A-8B7D-042E44B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389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Shortlisted standards can be copied directly for documentation.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DD64A7E-363D-4ADD-AE76-17BFA60F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FB3AE-D4FF-4EB3-AB54-75A67992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6EAF3-2EF4-411A-B04F-D06FE6E3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62396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087E3A8-DDF9-4A25-AE1D-F17454BB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D7733-8493-4706-8A64-CC25AFD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EVALUATION RESULTS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743464-4384-46A9-B586-177BC3D8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Public test metrics exceed all automated targets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44AAB52-F6FE-47DD-8BDD-4D40528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91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5A6D"/>
                </a:solidFill>
              </a:defRPr>
            </a:pPr>
            <a:r>
              <a:rPr sz="1875" b="0">
                <a:solidFill>
                  <a:srgbClr val="4B5A6D"/>
                </a:solidFill>
              </a:rPr>
              <a:t>Organizer public-set evaluation with eval_script.py.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73380AC-4EA2-420E-A21C-D3B6820E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20E56-4E6F-4BA1-B682-2AA48B72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1290"/>
            <a:ext cx="5346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B0A06-1B1C-4F0C-AA15-0BEFA7A0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895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C69E0-9359-463C-B99B-BA01DBB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Hit Rate @3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1C7A7-6E5D-4BF0-8054-6AEC541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89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Target: &gt;80%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6D146-A83D-42B8-862F-B9A20DF2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650" y="2701290"/>
            <a:ext cx="5346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A404D-F37D-4501-98F7-7349116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95600"/>
            <a:ext cx="4895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A8"/>
                </a:solidFill>
              </a:defRPr>
            </a:pPr>
            <a:r>
              <a:rPr sz="3600" b="1">
                <a:solidFill>
                  <a:srgbClr val="2563A8"/>
                </a:solidFill>
              </a:rPr>
              <a:t>1.0000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EB49E-7A56-4D5E-93BA-C0D82458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MRR @5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B9CE5-1776-45DF-A918-7E5ABAC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489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Target: &gt;0.7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C958-9807-4013-B695-F5EFB94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2701290"/>
            <a:ext cx="53467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19190-243C-4587-BDB6-AA39ECEF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95600"/>
            <a:ext cx="4895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A317"/>
                </a:solidFill>
              </a:defRPr>
            </a:pPr>
            <a:r>
              <a:rPr sz="3600" b="1">
                <a:solidFill>
                  <a:srgbClr val="E8A317"/>
                </a:solidFill>
              </a:rPr>
              <a:t>0.08s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666F5-2664-45B2-B133-3D2DDB9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5433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Avg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7B193-9DE1-4C3E-ACC8-908B45D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886200"/>
            <a:ext cx="4895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Target: &lt;5 seconds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D1805-CCE1-4B98-96F8-C2C5C5DA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4890"/>
            <a:ext cx="16573500" cy="1520190"/>
          </a:xfrm>
          <a:prstGeom xmlns:a="http://schemas.openxmlformats.org/drawingml/2006/main" prst="roundRect">
            <a:avLst>
              <a:gd name="adj" fmla="val 5013"/>
            </a:avLst>
          </a:prstGeom>
          <a:solidFill xmlns:a="http://schemas.openxmlformats.org/drawingml/2006/main">
            <a:srgbClr val="EAF1F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D802C-11EA-4CB3-BEDF-4886AE36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1604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3A8"/>
                </a:solidFill>
              </a:defRPr>
            </a:pPr>
            <a:r>
              <a:rPr sz="1725" b="1">
                <a:solidFill>
                  <a:srgbClr val="2563A8"/>
                </a:solidFill>
              </a:rPr>
              <a:t>Public-set run 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8141F-FF56-4808-8206-136B930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1604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python inference.py --input data/public/public_test_set.json --output data/public/team_results.json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43307-BD3B-47B8-9895-8641961A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48350"/>
            <a:ext cx="1604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python eval_script.py --results data/public/team_results.json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9C4A1-D661-493E-914F-5D31A223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62750"/>
            <a:ext cx="1657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B5A6D"/>
                </a:solidFill>
              </a:defRPr>
            </a:pPr>
            <a:r>
              <a:rPr sz="1725" b="0">
                <a:solidFill>
                  <a:srgbClr val="4B5A6D"/>
                </a:solidFill>
              </a:rPr>
              <a:t>Hidden test performance depends on the private query mix; the scoring path is deterministic, offline, and reproducible.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5FEBD1-5565-4BB7-BE76-A1B9B5F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B0E09-7A03-4E21-9A2F-E1B22F0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DDB65-8AB6-42FE-8E74-56DA60A4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7859110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50BDF88-95D8-4704-9251-BB8AEE72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2162C-43CD-412C-809F-71EC474D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784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IMPACT ON MSES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0DA145-1CF1-4DA9-98E8-03D58FB3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9650"/>
            <a:ext cx="7162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Compliance discovery becomes guided search in seconds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A8968E-AD2C-48F0-AECE-C9AD61F3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5A6D"/>
                </a:solidFill>
              </a:defRPr>
            </a:pPr>
            <a:r>
              <a:rPr sz="1875" b="0">
                <a:solidFill>
                  <a:srgbClr val="4B5A6D"/>
                </a:solidFill>
              </a:rPr>
              <a:t>The product shortens the path from product idea to applicable standard shortlist.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792EAC6-A6FD-4D6E-A5A4-3E034540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1A289-E724-46FC-92E0-C7466D3C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7700"/>
            <a:ext cx="8048625" cy="8465820"/>
          </a:xfrm>
          <a:prstGeom xmlns:a="http://schemas.openxmlformats.org/drawingml/2006/main" prst="roundRect">
            <a:avLst>
              <a:gd name="adj" fmla="val 94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59A8A-B0A3-4D28-BBEE-2D6A1E6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87630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What improves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CA645-F94F-4CD3-BAB7-5F148410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335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1F509-6FDE-47F9-A637-3DE5A26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525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Speed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B89FF-0999-4E46-93D8-B5ABD28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1450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Immediate shortlist for planning, testing, and documentation.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65FD1-1771-479B-9788-FAA5FAE1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6C6F9-CCB1-4848-994F-175C2C15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336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71DF6-7549-41FB-98AF-B2127983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955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Every recommendation is grounded in SP 21 records and page 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71EB1-1D90-4507-BBF2-3FD5ECFE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337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D4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B6AEF-DC38-4F74-AF61-DC85304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337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Reproducibility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88030-492C-41A0-8B20-E678EC8D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956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The same repo runs locally with one judge command.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6032F-9C43-4B25-9142-9B673A8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8656"/>
            <a:ext cx="3938588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8AFB8-8F0D-4C4A-B746-85799AB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3486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574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52F6A-423A-4825-BF77-23759FC5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348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Standards indexed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A56B5-FF5F-4FED-86B5-125A4D26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3486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Parsed from SP 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F807C-1BBC-4E3A-AB14-9AEE4F2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4488656"/>
            <a:ext cx="3938588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04FF1-B99D-434E-85BC-AA17AFCF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86300"/>
            <a:ext cx="3486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5D47"/>
                </a:solidFill>
              </a:defRPr>
            </a:pPr>
            <a:r>
              <a:rPr sz="3600" b="1">
                <a:solidFill>
                  <a:srgbClr val="D95D47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489B1-762A-4B13-BCE0-BE21D147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14950"/>
            <a:ext cx="348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Fake IDs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908D8-2DD3-4C15-82D0-A1A5F72D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676900"/>
            <a:ext cx="3486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Only official parsed codes returned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C1D70-5505-491D-A099-ACF8330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86813"/>
            <a:ext cx="3938588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28038-32F1-4E1F-A40E-864E975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86600"/>
            <a:ext cx="3486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A8"/>
                </a:solidFill>
              </a:defRPr>
            </a:pPr>
            <a:r>
              <a:rPr sz="3600" b="1">
                <a:solidFill>
                  <a:srgbClr val="2563A8"/>
                </a:solidFill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9E05C-203C-4F13-A0B9-2EA812B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715250"/>
            <a:ext cx="348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Command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8902E-A5CA-40F7-ACE8-7409AC67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077200"/>
            <a:ext cx="3486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Judge-compatible inference.py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A0C4D-27F2-488F-8250-E6387913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88" y="6886813"/>
            <a:ext cx="3938588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73317-F067-48E1-8600-93741B1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086600"/>
            <a:ext cx="3486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A317"/>
                </a:solidFill>
              </a:defRPr>
            </a:pPr>
            <a:r>
              <a:rPr sz="3600" b="1">
                <a:solidFill>
                  <a:srgbClr val="E8A317"/>
                </a:solidFill>
              </a:rPr>
              <a:t>3-5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3E2EF-FB7E-4C32-AA76-EA068124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715250"/>
            <a:ext cx="348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Recommendations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2CA4C-E91C-495D-BF1B-EF7A8876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8077200"/>
            <a:ext cx="3486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Ranked per query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E521CB4-54AE-435E-9449-CD10B55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C67FA8-E14F-457A-8E3B-1F75657A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7ABBA-3265-49F9-8683-656D80F8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691907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0624504-2CAF-47C1-9CD2-261642E5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A64AA-C40A-494C-9B6A-CC482531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7700"/>
            <a:ext cx="805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TEAM, DEPLOYMENT &amp;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FC4BA-FA95-41C3-8207-680B154A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80581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ByteMe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F2FB1-674A-4C5B-AB1A-165133D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B5A6D"/>
                </a:solidFill>
              </a:defRPr>
            </a:pPr>
            <a:r>
              <a:rPr sz="1875" b="0">
                <a:solidFill>
                  <a:srgbClr val="4B5A6D"/>
                </a:solidFill>
              </a:rPr>
              <a:t>Built for the Bureau of Indian Standards x Sigma Squad AI Hackathon.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2BE4E91-ED9E-4001-ACCD-048D7433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914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31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5B69F-A505-4605-81A5-3E856EA3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5090"/>
            <a:ext cx="804862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6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1219E-3642-4341-94FE-8E1E6A52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4E561-47D4-4A42-B8AF-3A9B2FB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Devansh Verma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61D63-9EAC-4A08-9948-5AA8EA5D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Team Leader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3B961-F8A0-4189-BBE4-09EE6C9D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133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A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D3F6C-BB0C-4DF0-8DA4-AD0914F4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7219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Jahnavi Srivastava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F493F-AE82-4F30-A2B9-786C5E7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A6D"/>
                </a:solidFill>
              </a:defRPr>
            </a:pPr>
            <a:r>
              <a:rPr sz="1650" b="0">
                <a:solidFill>
                  <a:srgbClr val="4B5A6D"/>
                </a:solidFill>
              </a:rPr>
              <a:t>Team Member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A46F-FC99-464D-895C-0C8DF12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6790"/>
            <a:ext cx="8048625" cy="1108710"/>
          </a:xfrm>
          <a:prstGeom xmlns:a="http://schemas.openxmlformats.org/drawingml/2006/main" prst="roundRect">
            <a:avLst>
              <a:gd name="adj" fmla="val 6873"/>
            </a:avLst>
          </a:prstGeom>
          <a:solidFill xmlns:a="http://schemas.openxmlformats.org/drawingml/2006/main">
            <a:srgbClr val="FFF5DD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EB4A3-77E6-4843-80A5-45189DB1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A"/>
                </a:solidFill>
              </a:defRPr>
            </a:pPr>
            <a:r>
              <a:rPr sz="1800" b="1">
                <a:solidFill>
                  <a:srgbClr val="0B4F4A"/>
                </a:solidFill>
              </a:rPr>
              <a:t>Deployment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8A5D-85DA-4443-BFD7-5F33FDEE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752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Prepared for Hugging Face Docker Space deployment.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C9D34-88D7-48A9-927A-2581DC4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47700"/>
            <a:ext cx="8048625" cy="8465820"/>
          </a:xfrm>
          <a:prstGeom xmlns:a="http://schemas.openxmlformats.org/drawingml/2006/main" prst="roundRect">
            <a:avLst>
              <a:gd name="adj" fmla="val 94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30C46-BAAF-4163-9DD8-8899754B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876300"/>
            <a:ext cx="752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4F4A"/>
                </a:solidFill>
              </a:defRPr>
            </a:pPr>
            <a:r>
              <a:rPr sz="2400" b="1">
                <a:solidFill>
                  <a:srgbClr val="0B4F4A"/>
                </a:solidFill>
              </a:rPr>
              <a:t>Live project links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78335-55B8-432E-902A-256EEF03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47800"/>
            <a:ext cx="752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A8"/>
                </a:solidFill>
              </a:defRPr>
            </a:pPr>
            <a:r>
              <a:rPr sz="1500" b="1">
                <a:solidFill>
                  <a:srgbClr val="2563A8"/>
                </a:solidFill>
              </a:rPr>
              <a:t>Deployed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83035-5022-4FD3-868C-932EDEE2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52600"/>
            <a:ext cx="752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https://huggingface.co/spaces/devanshverma/bis-standards-recommendation-engine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BB210-DD09-4BFB-8F92-496CE28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752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A8"/>
                </a:solidFill>
              </a:defRPr>
            </a:pPr>
            <a:r>
              <a:rPr sz="1500" b="1">
                <a:solidFill>
                  <a:srgbClr val="2563A8"/>
                </a:solidFill>
              </a:rPr>
              <a:t>GitHub 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1290B-72B8-464F-AEC3-685F883A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7524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https://github.com/workbydevansh/bis-standards-recommendation-engine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E468F-1B3A-42E1-BBD3-D3BA2F8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956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FEBCE-A90E-48FD-A166-E7D1955E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24200"/>
            <a:ext cx="752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A8"/>
                </a:solidFill>
              </a:defRPr>
            </a:pPr>
            <a:r>
              <a:rPr sz="1800" b="1">
                <a:solidFill>
                  <a:srgbClr val="2563A8"/>
                </a:solidFill>
              </a:rPr>
              <a:t>Repository includes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BE692-1F19-413F-9A51-3623D9C5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0450"/>
            <a:ext cx="7524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B5A6D"/>
                </a:solidFill>
              </a:defRPr>
            </a:pPr>
            <a:r>
              <a:rPr sz="1725" b="0">
                <a:solidFill>
                  <a:srgbClr val="4B5A6D"/>
                </a:solidFill>
              </a:rPr>
              <a:t>inference.py, eval_script.py, src/, data/, React frontend, README, Dockerfile, and this 8-slide deck.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73B77-28F2-46E7-8956-F3BCB8C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43400"/>
            <a:ext cx="7524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A6D"/>
                </a:solidFill>
              </a:defRPr>
            </a:pPr>
            <a:r>
              <a:rPr sz="1575" b="0">
                <a:solidFill>
                  <a:srgbClr val="4B5A6D"/>
                </a:solidFill>
              </a:rPr>
              <a:t>Acknowledgement: BIS SP 21 dataset and organizer-provided public test/evaluation assets.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DC874-BCA8-45F2-807A-A5DDF95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789170"/>
            <a:ext cx="7515225" cy="720090"/>
          </a:xfrm>
          <a:prstGeom xmlns:a="http://schemas.openxmlformats.org/drawingml/2006/main" prst="roundRect">
            <a:avLst>
              <a:gd name="adj" fmla="val 10582"/>
            </a:avLst>
          </a:prstGeom>
          <a:solidFill xmlns:a="http://schemas.openxmlformats.org/drawingml/2006/main">
            <a:srgbClr val="FFF5DD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B753D-9FF0-436B-B619-E87EF8F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10150"/>
            <a:ext cx="699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A"/>
                </a:solidFill>
              </a:defRPr>
            </a:pPr>
            <a:r>
              <a:rPr sz="1725" b="1">
                <a:solidFill>
                  <a:srgbClr val="0B4F4A"/>
                </a:solidFill>
              </a:rPr>
              <a:t>Live demo and source repository links are ready for submission.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432E19-A7CB-4747-9B25-583FFD17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34500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9"/>
          </a:solidFill>
          <a:ln xmlns:a="http://schemas.openxmlformats.org/drawingml/2006/main" w="0">
            <a:solidFill>
              <a:srgbClr val="D5DE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6B1A0-0CFF-4116-9254-918EDA2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488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ByteMe | BIS Standards Recommendation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2D2948-89CF-4698-9B9F-97DACB9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3550" y="94488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788"/>
                </a:solidFill>
              </a:defRPr>
            </a:pPr>
            <a:r>
              <a:rPr sz="1200" b="0">
                <a:solidFill>
                  <a:srgbClr val="6B7788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957089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2026-04-30T07:14:43.5110000Z</dcterms:created>
  <dcterms:modified xsi:type="dcterms:W3CDTF">2026-04-30T07:14:43.5110000Z</dcterms:modified>
</coreProperties>
</file>